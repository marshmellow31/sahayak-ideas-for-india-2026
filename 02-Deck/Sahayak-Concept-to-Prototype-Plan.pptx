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B5E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480560"/>
            <a:ext cx="3108960" cy="3108960"/>
          </a:xfrm>
          <a:prstGeom prst="ellipse">
            <a:avLst/>
          </a:prstGeom>
          <a:solidFill>
            <a:srgbClr val="F4A22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INDIA: INNOVATION CHALLENGE 2026  ·  INCLUSIVE INNOVATION FOR BHARAT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Sahayak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AI work assistant for India’s 400 million deskless workers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WhatsApp, in their own language.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3383280" cy="502920"/>
          </a:xfrm>
          <a:prstGeom prst="roundRect">
            <a:avLst>
              <a:gd name="adj" fmla="val 16364"/>
            </a:avLst>
          </a:prstGeom>
          <a:solidFill>
            <a:srgbClr val="DCF8C6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297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“Meri kitni leave bachi hai?”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Concept-to-Prototype Execution Plan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 Patel  ·  Deep Mehta  ·  Meet Kapadia      IIIT Vadodara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software forgot 90% of India’s workforce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56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5156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deskless workers — nurses, operators,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pickers, technicians, retail staff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0916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Indians speak English, yet nearly 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are English-only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6676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HR tickets are repetitive questions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humans, over and over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exclusion looks like every day: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389120"/>
            <a:ext cx="384048" cy="384048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3708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 nurse can’t check her shift roster or leave balance — she queues at the HR desk instead.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5047488"/>
            <a:ext cx="384048" cy="384048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operator hits “Error 42”; the fix exists in an English PDF nobody can search. The line stays down.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5705856"/>
            <a:ext cx="384048" cy="384048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68756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miss PF/ESI entitlements they never knew they had; safety SOPs go unread until an incident.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Sahayak: send a voice note, get work done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E5DDD5"/>
          </a:solidFill>
          <a:ln w="12700">
            <a:solidFill>
              <a:srgbClr val="C9BF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3977640" cy="50292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Sahayak  ·  online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2148840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DCF8C6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5960" y="2148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“Meri kitni leave bachi hai?”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2743200"/>
            <a:ext cx="28346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2743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Aapke paas 6 casual leave bachi hain (HRMS, aaj).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0" y="3474720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DCF8C6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3474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“Kal ki chhutti apply kar do.”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" y="4069080"/>
            <a:ext cx="30175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gaya ✓ Leave #4821 filed for 21 Jul. Supervisor ko notification chala gaya.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828800" y="4937760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DCF8C6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4937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“Machine X error 42?”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5532120"/>
            <a:ext cx="30175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5532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p.12: coolant valve reset — steps + photo attached 📷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2080" y="1508760"/>
            <a:ext cx="6126480" cy="1371600"/>
          </a:xfrm>
          <a:prstGeom prst="roundRect">
            <a:avLst>
              <a:gd name="adj" fmla="val 6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892808"/>
            <a:ext cx="502920" cy="50292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6367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172200" y="2039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employer’s own systems — HRMS, rosters, payslips — and SOP manuals via RAG, with the source page cited.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212080" y="3108960"/>
            <a:ext cx="6126480" cy="1371600"/>
          </a:xfrm>
          <a:prstGeom prst="roundRect">
            <a:avLst>
              <a:gd name="adj" fmla="val 6000"/>
            </a:avLst>
          </a:prstGeom>
          <a:solidFill>
            <a:srgbClr val="0B5E6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3493008"/>
            <a:ext cx="502920" cy="50292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2369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172200" y="36393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leave, raises the ticket, requests the shift swap — with explicit confirmation and a full audit log.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212080" y="4709160"/>
            <a:ext cx="6126480" cy="1371600"/>
          </a:xfrm>
          <a:prstGeom prst="roundRect">
            <a:avLst>
              <a:gd name="adj" fmla="val 6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5093208"/>
            <a:ext cx="502920" cy="50292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72200" y="48371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172200" y="5239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query clusters become a live training-gap heatmap for HR and supervisors.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  ·  zero training  ·  voice-first in Hindi, Hinglish &amp; regional languages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87552" y="184708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552" y="224028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 or text in;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+ images out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55848" y="2340864"/>
            <a:ext cx="283464" cy="256032"/>
          </a:xfrm>
          <a:prstGeom prst="rightArrow">
            <a:avLst/>
          </a:prstGeom>
          <a:solidFill>
            <a:srgbClr val="F4A22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22192" y="184708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Speech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22192" y="224028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/ Sarvam ASR &amp; TTS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and code-switching native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2340864"/>
            <a:ext cx="283464" cy="256032"/>
          </a:xfrm>
          <a:prstGeom prst="rightArrow">
            <a:avLst/>
          </a:prstGeom>
          <a:solidFill>
            <a:srgbClr val="F4A226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0B5E6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56832" y="184708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24028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with tool-calling: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retrieve → act → confirm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25128" y="2340864"/>
            <a:ext cx="283464" cy="256032"/>
          </a:xfrm>
          <a:prstGeom prst="rightArrow">
            <a:avLst/>
          </a:prstGeom>
          <a:solidFill>
            <a:srgbClr val="F4A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91472" y="184708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Systems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91472" y="224028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SOPs &amp; policies (cited);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HRMS / tickets / rosters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11018520" cy="960120"/>
          </a:xfrm>
          <a:prstGeom prst="roundRect">
            <a:avLst>
              <a:gd name="adj" fmla="val 8571"/>
            </a:avLst>
          </a:prstGeom>
          <a:solidFill>
            <a:srgbClr val="FCF3E2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6576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at every step:  answers cite source document &amp; page  ·  low confidence → “I don’t know” + human handoff  ·  every action needs explicit confirmation  ·  full audit log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983480"/>
            <a:ext cx="11018520" cy="1143000"/>
          </a:xfrm>
          <a:prstGeom prst="roundRect">
            <a:avLst>
              <a:gd name="adj" fmla="val 72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 (web):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77640" y="5120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clusters, training-gap heatmap, action log, adoption metrics — the employer’s window into what the workforce needs.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judges will see: a 3-minute 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56232"/>
            <a:ext cx="548640" cy="54864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801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8308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Hindi voice note on a real phone: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“Infection control ka hand-hygiene SOP kya hai?”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8308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persona, hospital corpus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856232"/>
            <a:ext cx="548640" cy="54864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52360" y="1801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5236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Sahayak replies in Hindi — voice + text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citing the SOP document and page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236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not hallucination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096512"/>
            <a:ext cx="548640" cy="54864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83080" y="4526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“Kal ki leave apply kar do” → confirmation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filed in the HRMS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78308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closed-loop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0B5E6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4096512"/>
            <a:ext cx="548640" cy="54864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insight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52360" y="4526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dashboard updates live: query logged,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grows, training gap surfaces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5236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the employer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→ prototype: 14 weeks, four sprints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 – Oct 7, 2026 (challenge window)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0" cy="4206240"/>
          </a:xfrm>
          <a:prstGeom prst="line">
            <a:avLst/>
          </a:prstGeom>
          <a:noFill/>
          <a:ln w="31750">
            <a:solidFill>
              <a:srgbClr val="0B5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783080"/>
            <a:ext cx="502920" cy="50292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Wk 1–3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0756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170992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 (5 nurses, 5 operators)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sample SOPs + mock HRMS data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sandbox + ASR evaluation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33272" y="2898648"/>
            <a:ext cx="502920" cy="50292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8529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Wk 4–7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1912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60520" y="2825496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ASR → LLM → answer loop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page-level citations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Hinglish quality passes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33272" y="4014216"/>
            <a:ext cx="502920" cy="50292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9684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Wk 8–11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43068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60520" y="3941064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filing, tickets, shift swaps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+ audit log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 with clusters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3272" y="5129784"/>
            <a:ext cx="502920" cy="50292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272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50840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· Wk 12–14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5422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demo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60520" y="50566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confidence, handoff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20-user dry run at IIIT Vadodara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+ pilot outreach (Bharuch)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stack: proven parts, novel integration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4128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24128" y="237744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70432" y="23774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(Twilio sandbox for demo)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384048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384048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 in &amp; out;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for SOP steps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75888" y="155448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0B5E6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77056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AI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77056" y="237744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0E6E74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0" y="23774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/ Sarvam AI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ASR + TTS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77056" y="384048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0E6E74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384048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(LLM)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loop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28816" y="155448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9984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Data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29984" y="237744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23774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 index 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policies, manuals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9984" y="384048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384048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HRMS (Postgres):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rosters, payslips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81744" y="155448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82912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Infra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582912" y="237744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29216" y="23774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82912" y="3840480"/>
            <a:ext cx="2249424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29216" y="384048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 cloud;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individually proven — our work is the integration, the Indic voice UX, and the action layer.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we’ll know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 queries resolved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contact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75888" y="15544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58768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858768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HR/IT workload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deflected from humans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28816" y="15544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11696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711696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adoption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pilot workers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81744" y="15544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564624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564624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answers with 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ladder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087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(now)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77640" y="40416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live voice → cited answer → filed action, measured on a 200-question Hindi/Hinglish test set.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411480" cy="41148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73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8646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(Wk 12–14)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77640" y="481888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students + staff at IIIT Vadodara use Sahayak for a week; we measure resolution, latency, and voice-recognition accuracy.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5669280"/>
            <a:ext cx="411480" cy="411480"/>
          </a:xfrm>
          <a:prstGeom prst="ellipse">
            <a:avLst/>
          </a:prstGeom>
          <a:solidFill>
            <a:srgbClr val="0B5E6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50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641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(post-challenge)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977640" y="55961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structured pilot at one hospital and one manufacturing SME near Bharuch, Gujarat — metrics above, plus entitlement uptake.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Inclusive by mechanic, trustworthy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— built in, not bolted 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both directions — literacy is never a barrier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Hinglish &amp; regional languages, code-switching as spoken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WhatsApp on entry-level phones, low bandwidth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training: if you can send a voice note, you can use it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 for a nurse in Coimbatore and a welder in Pune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37960" y="1554480"/>
            <a:ext cx="4828032" cy="4663440"/>
          </a:xfrm>
          <a:prstGeom prst="roundRect">
            <a:avLst>
              <a:gd name="adj" fmla="val 1765"/>
            </a:avLst>
          </a:prstGeom>
          <a:solidFill>
            <a:srgbClr val="0B5E6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guardrails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2280" y="2331720"/>
            <a:ext cx="4343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its source document and page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“I don’t know” + route to a human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confirmation before any HR action; full audit log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onboarding, data minimization, DPDP-aligned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aggregated analytics only — never surveillance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market, a clear wedge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at ₹30–50 per employee per month.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500-worker SME pays ~₹15–25k/month — less than one clerk’s salary for a 24×7 multilingual helpdesk.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Verticals: hospitals → factories → warehouses → retail.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EAF3F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competitive 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457200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players exist — Hunar.ai (frontline hiring &amp; engagement), HROne One AI (HRMS voice agent), Vahan (blue-collar recruiting). None combine SOP troubleshooting RAG + agentic HR actions + training-gap analytics in one worker-side assistant.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4873752" cy="4709160"/>
          </a:xfrm>
          <a:prstGeom prst="roundRect">
            <a:avLst>
              <a:gd name="adj" fmla="val 1748"/>
            </a:avLst>
          </a:prstGeom>
          <a:solidFill>
            <a:srgbClr val="0B5E63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66560" y="2240280"/>
            <a:ext cx="411480" cy="41148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Worker-side, not HR-side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60920" y="2514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deskless worker’s daily reality, not the HR office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3246120"/>
            <a:ext cx="411480" cy="41148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60920" y="3172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brain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60920" y="35204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troubleshooting from the employer’s own manuals, cited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4251960"/>
            <a:ext cx="411480" cy="41148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4178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60920" y="45262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clusters become a training-gap heatmap — a loop no competitor offers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5257800"/>
            <a:ext cx="411480" cy="41148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5239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5184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Healthcare-first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60920" y="55321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pilot aligned with the challenge’s health pillar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0B5E6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0E4C50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691640"/>
            <a:ext cx="731520" cy="73152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733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 Patel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78992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 pipeline — LLM agent, RAG, prompt &amp; tool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46304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0E4C50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731520" cy="73152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733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Mehta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82312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integrations — WhatsApp, HRMS connectors, infra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46304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0E4C50"/>
          </a:solidFill>
          <a:ln/>
          <a:effectLst>
            <a:outerShdw sx="100000" sy="100000" kx="0" ky="0" algn="bl" rotWithShape="0" blurRad="76200" dist="25400" dir="5400000">
              <a:srgbClr val="9AB2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691640"/>
            <a:ext cx="731520" cy="731520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6733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Kapadia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85632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UX &amp; dashboard — Indic ASR/TTS tuning, React frontend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students, IIIT Vadodara  ·  based in Gujarat — pilot outreach in Bharuch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made payments work for every Indian.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Sahayak does the same for the workplace.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Sahayak  ·  Ideas for India 2026  ·  Inclusive Innovation for Bharat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2026-07-20T13:48:15Z</dcterms:created>
  <dcterms:modified xsi:type="dcterms:W3CDTF">2026-07-20T13:48:15Z</dcterms:modified>
</cp:coreProperties>
</file>
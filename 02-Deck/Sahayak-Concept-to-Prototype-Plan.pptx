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42dfe8dba4446b" /><Relationship Type="http://schemas.openxmlformats.org/officeDocument/2006/relationships/extended-properties" Target="/docProps/app.xml" Id="Rac036c235150410b" /><Relationship Type="http://schemas.openxmlformats.org/officeDocument/2006/relationships/officeDocument" Target="/ppt/presentation.xml" Id="Rb064add0d9d64f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79fb6942254a5d"/>
  </p:sldMasterIdLst>
  <p:notesMasterIdLst>
    <p:notesMasterId xmlns:r="http://schemas.openxmlformats.org/officeDocument/2006/relationships" r:id="R2e1f2ff93a3a451c"/>
  </p:notesMasterIdLst>
  <p:sldIdLst>
    <p:sldId xmlns:r="http://schemas.openxmlformats.org/officeDocument/2006/relationships" id="256" r:id="R762a5890f1174221"/>
    <p:sldId xmlns:r="http://schemas.openxmlformats.org/officeDocument/2006/relationships" id="257" r:id="R5a68e8394165461a"/>
    <p:sldId xmlns:r="http://schemas.openxmlformats.org/officeDocument/2006/relationships" id="258" r:id="R167179cc5e3c4495"/>
    <p:sldId xmlns:r="http://schemas.openxmlformats.org/officeDocument/2006/relationships" id="259" r:id="Rfa2a86ba8a5645f3"/>
    <p:sldId xmlns:r="http://schemas.openxmlformats.org/officeDocument/2006/relationships" id="260" r:id="R2d6fa716fac24699"/>
    <p:sldId xmlns:r="http://schemas.openxmlformats.org/officeDocument/2006/relationships" id="261" r:id="R40ceeaa27cf040ff"/>
    <p:sldId xmlns:r="http://schemas.openxmlformats.org/officeDocument/2006/relationships" id="262" r:id="R589fd63cfcbb4a57"/>
    <p:sldId xmlns:r="http://schemas.openxmlformats.org/officeDocument/2006/relationships" id="263" r:id="R9f36905df5044d08"/>
    <p:sldId xmlns:r="http://schemas.openxmlformats.org/officeDocument/2006/relationships" id="264" r:id="Rb0b92af800994746"/>
    <p:sldId xmlns:r="http://schemas.openxmlformats.org/officeDocument/2006/relationships" id="265" r:id="R728a23677eb2470c"/>
    <p:sldId xmlns:r="http://schemas.openxmlformats.org/officeDocument/2006/relationships" id="266" r:id="Ra2921da0672f4c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b324aa53a24a02" /><Relationship Type="http://schemas.openxmlformats.org/officeDocument/2006/relationships/slideMaster" Target="/ppt/slideMasters/slideMaster1.xml" Id="R9979fb6942254a5d" /><Relationship Type="http://schemas.openxmlformats.org/officeDocument/2006/relationships/notesMaster" Target="/ppt/notesMasters/notesMaster1.xml" Id="R2e1f2ff93a3a451c" /><Relationship Type="http://schemas.openxmlformats.org/officeDocument/2006/relationships/presProps" Target="/ppt/presProps.xml" Id="R89a470bf8cf04f24" /><Relationship Type="http://schemas.openxmlformats.org/officeDocument/2006/relationships/viewProps" Target="/ppt/viewProps.xml" Id="R6c53a3cfc67946af" /><Relationship Type="http://schemas.openxmlformats.org/officeDocument/2006/relationships/tableStyles" Target="/ppt/tableStyles.xml" Id="R56741ff968b64a92" /><Relationship Type="http://schemas.openxmlformats.org/officeDocument/2006/relationships/slide" Target="/ppt/slides/slide1.xml" Id="R762a5890f1174221" /><Relationship Type="http://schemas.openxmlformats.org/officeDocument/2006/relationships/slide" Target="/ppt/slides/slide2.xml" Id="R5a68e8394165461a" /><Relationship Type="http://schemas.openxmlformats.org/officeDocument/2006/relationships/slide" Target="/ppt/slides/slide3.xml" Id="R167179cc5e3c4495" /><Relationship Type="http://schemas.openxmlformats.org/officeDocument/2006/relationships/slide" Target="/ppt/slides/slide4.xml" Id="Rfa2a86ba8a5645f3" /><Relationship Type="http://schemas.openxmlformats.org/officeDocument/2006/relationships/slide" Target="/ppt/slides/slide5.xml" Id="R2d6fa716fac24699" /><Relationship Type="http://schemas.openxmlformats.org/officeDocument/2006/relationships/slide" Target="/ppt/slides/slide6.xml" Id="R40ceeaa27cf040ff" /><Relationship Type="http://schemas.openxmlformats.org/officeDocument/2006/relationships/slide" Target="/ppt/slides/slide7.xml" Id="R589fd63cfcbb4a57" /><Relationship Type="http://schemas.openxmlformats.org/officeDocument/2006/relationships/slide" Target="/ppt/slides/slide8.xml" Id="R9f36905df5044d08" /><Relationship Type="http://schemas.openxmlformats.org/officeDocument/2006/relationships/slide" Target="/ppt/slides/slide9.xml" Id="Rb0b92af800994746" /><Relationship Type="http://schemas.openxmlformats.org/officeDocument/2006/relationships/slide" Target="/ppt/slides/slide10.xml" Id="R728a23677eb2470c" /><Relationship Type="http://schemas.openxmlformats.org/officeDocument/2006/relationships/slide" Target="/ppt/slides/slide11.xml" Id="Ra2921da0672f4c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c42294123f4e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216cf92e1148d0" /><Relationship Type="http://schemas.openxmlformats.org/officeDocument/2006/relationships/notesMaster" Target="/ppt/notesMasters/notesMaster1.xml" Id="Re1616a434e6649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9135568d0b4831" /><Relationship Type="http://schemas.openxmlformats.org/officeDocument/2006/relationships/notesMaster" Target="/ppt/notesMasters/notesMaster1.xml" Id="Rb6c99915222d4d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1088bc15ad4dda" /><Relationship Type="http://schemas.openxmlformats.org/officeDocument/2006/relationships/notesMaster" Target="/ppt/notesMasters/notesMaster1.xml" Id="R3c14e83d00274f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0a43a147794f4e" /><Relationship Type="http://schemas.openxmlformats.org/officeDocument/2006/relationships/notesMaster" Target="/ppt/notesMasters/notesMaster1.xml" Id="R1722a111c4b442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416acc764a4e0d" /><Relationship Type="http://schemas.openxmlformats.org/officeDocument/2006/relationships/notesMaster" Target="/ppt/notesMasters/notesMaster1.xml" Id="R0aa87d6e77874b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ce76676af4eec" /><Relationship Type="http://schemas.openxmlformats.org/officeDocument/2006/relationships/notesMaster" Target="/ppt/notesMasters/notesMaster1.xml" Id="Rdbfd69c4a7264d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dff80cc7ce446a" /><Relationship Type="http://schemas.openxmlformats.org/officeDocument/2006/relationships/notesMaster" Target="/ppt/notesMasters/notesMaster1.xml" Id="Rc82efd23be7e428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8a503b83f74157" /><Relationship Type="http://schemas.openxmlformats.org/officeDocument/2006/relationships/notesMaster" Target="/ppt/notesMasters/notesMaster1.xml" Id="R1c58352fd0314e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72c6bb76804220" /><Relationship Type="http://schemas.openxmlformats.org/officeDocument/2006/relationships/notesMaster" Target="/ppt/notesMasters/notesMaster1.xml" Id="R604e0042da6948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cc49d8e034487f" /><Relationship Type="http://schemas.openxmlformats.org/officeDocument/2006/relationships/notesMaster" Target="/ppt/notesMasters/notesMaster1.xml" Id="R67907b7cf7bd447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2f0bb74e3d4563" /><Relationship Type="http://schemas.openxmlformats.org/officeDocument/2006/relationships/notesMaster" Target="/ppt/notesMasters/notesMaster1.xml" Id="R8ac63932260149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bb0ba642c744f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d30de10e9b44ed" /><Relationship Type="http://schemas.openxmlformats.org/officeDocument/2006/relationships/slideLayout" Target="/ppt/slideLayouts/slideLayout1.xml" Id="R1f913bd7c1a1462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913bd7c1a1462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03ca6760e43a8" /><Relationship Type="http://schemas.openxmlformats.org/officeDocument/2006/relationships/notesSlide" Target="/ppt/notesSlides/notesSlide1.xml" Id="R6ba5a14a1fc843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8676ebdd24489" /><Relationship Type="http://schemas.openxmlformats.org/officeDocument/2006/relationships/notesSlide" Target="/ppt/notesSlides/notesSlide2.xml" Id="Re9ed7858a8314c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10de904d14920" /><Relationship Type="http://schemas.openxmlformats.org/officeDocument/2006/relationships/notesSlide" Target="/ppt/notesSlides/notesSlide3.xml" Id="R9e794832559c48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5b5c3cb9f41fd" /><Relationship Type="http://schemas.openxmlformats.org/officeDocument/2006/relationships/notesSlide" Target="/ppt/notesSlides/notesSlide4.xml" Id="Rc81eb9672ddc4a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fe88a49934ad4" /><Relationship Type="http://schemas.openxmlformats.org/officeDocument/2006/relationships/notesSlide" Target="/ppt/notesSlides/notesSlide5.xml" Id="R6ba44ca6d25248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218d1a4764fd6" /><Relationship Type="http://schemas.openxmlformats.org/officeDocument/2006/relationships/notesSlide" Target="/ppt/notesSlides/notesSlide6.xml" Id="R841931f96fcf49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ef55345424a85" /><Relationship Type="http://schemas.openxmlformats.org/officeDocument/2006/relationships/notesSlide" Target="/ppt/notesSlides/notesSlide7.xml" Id="R016e6866f23d41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b6356ec774412" /><Relationship Type="http://schemas.openxmlformats.org/officeDocument/2006/relationships/notesSlide" Target="/ppt/notesSlides/notesSlide8.xml" Id="R0006647352bc4d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ba42eb8804d27" /><Relationship Type="http://schemas.openxmlformats.org/officeDocument/2006/relationships/notesSlide" Target="/ppt/notesSlides/notesSlide9.xml" Id="Rde59344f745c4a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90f52e10f464c" /><Relationship Type="http://schemas.openxmlformats.org/officeDocument/2006/relationships/notesSlide" Target="/ppt/notesSlides/notesSlide10.xml" Id="R934abb98e94845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1b0c850a943bf" /><Relationship Type="http://schemas.openxmlformats.org/officeDocument/2006/relationships/notesSlide" Target="/ppt/notesSlides/notesSlide11.xml" Id="R0c98857bfa7e40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39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9E7A027-B6AE-4C94-BC31-28CCF342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-1463040"/>
            <a:ext cx="4206240" cy="420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>
              <a:alpha val="60000"/>
            </a:srgbClr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091636A-75ED-4828-9DC0-00D05D2F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480560"/>
            <a:ext cx="3108960" cy="3108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>
              <a:alpha val="45000"/>
            </a:srgbClr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221D3AF-1024-4D77-847C-5A2A9DF0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777240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spc="200">
                <a:solidFill>
                  <a:srgbClr val="F4A226"/>
                </a:solidFill>
                <a:latin typeface="Calibri"/>
                <a:ea typeface="Calibri"/>
                <a:cs typeface="Calibri"/>
              </a:rPr>
              <a:t>IDEAS FOR INDIA: INNOVATION CHALLENGE 2026  ·  INCLUSIVE INNOVATION FOR BHARAT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477252B-442D-418F-A157-7C94FB90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8229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Sahayak</a:t>
            </a:r>
            <a:endParaRPr sz="7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7B1BB45-8235-428D-941F-9C3987F0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71800"/>
            <a:ext cx="87782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CFE7E4"/>
                </a:solidFill>
                <a:latin typeface="Calibri"/>
                <a:ea typeface="Calibri"/>
                <a:cs typeface="Calibri"/>
              </a:rPr>
              <a:t>A voice-first AI work assistant for India’s 400 million deskless workers —</a:t>
            </a:r>
            <a:endParaRPr sz="2000"/>
          </a:p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CFE7E4"/>
                </a:solidFill>
                <a:latin typeface="Calibri"/>
                <a:ea typeface="Calibri"/>
                <a:cs typeface="Calibri"/>
              </a:rPr>
              <a:t>on WhatsApp, in their own language.</a:t>
            </a:r>
            <a:endParaRPr sz="20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F0AF098-1FEB-4ECD-BD3D-C80CA9FC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97680"/>
            <a:ext cx="3383280" cy="502920"/>
          </a:xfrm>
          <a:prstGeom xmlns:a="http://schemas.openxmlformats.org/drawingml/2006/main" prst="roundRect">
            <a:avLst>
              <a:gd name="adj" fmla="val 16364"/>
            </a:avLst>
          </a:prstGeom>
          <a:solidFill xmlns:a="http://schemas.openxmlformats.org/drawingml/2006/main">
            <a:srgbClr val="DCF8C6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87BBC70-80A3-4390-9BF7-CF54F4B2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97680"/>
            <a:ext cx="31089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🎙  “Meri kitni leave bachi hai?”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D27CE4B-73F1-4479-A3BB-2464B020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9496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Concept-to-Prototype Execution Plan</a:t>
            </a:r>
            <a:endParaRPr sz="1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33954E-7ADB-453A-937D-7A541557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0644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9FC2BF"/>
                </a:solidFill>
                <a:latin typeface="Calibri"/>
                <a:ea typeface="Calibri"/>
                <a:cs typeface="Calibri"/>
              </a:rPr>
              <a:t>Harshil Patel  ·  Deep Mehta  ·  Meet Kapadia      IIIT Vadodara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048585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1E0C436-2E10-4077-A2EA-630E5225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Enterprise software forgot 90% of India’s workforce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5519B4F-7C1B-4A4E-80F3-E84052CD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3383280" cy="196596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8480881-0FE2-46A1-89F3-4E69B50F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783080"/>
            <a:ext cx="292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400M+</a:t>
            </a:r>
            <a:endParaRPr sz="4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751B8B9-4410-46C1-82BA-0F124EBA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606040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deskless workers — nurses, operators,</a:t>
            </a:r>
            <a:endParaRPr sz="1250"/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pickers, technicians, retail staff</a:t>
            </a:r>
            <a:endParaRPr sz="12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27D52A5-B3F8-45CC-ACA5-20CC3DF7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54480"/>
            <a:ext cx="3383280" cy="196596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BBD542D-3617-4661-AE4A-E9FDB24B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783080"/>
            <a:ext cx="292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~10%</a:t>
            </a:r>
            <a:endParaRPr sz="4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CAF1732-9553-4515-95BA-D3248124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06040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of Indians speak English, yet nearly all</a:t>
            </a:r>
            <a:endParaRPr sz="1250"/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enterprise tools are English-only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F99C99D-FEA5-4070-A150-F07F08B7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554480"/>
            <a:ext cx="3383280" cy="196596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6E0FACF-461A-44A4-A18B-8A823727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783080"/>
            <a:ext cx="292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40–60%</a:t>
            </a:r>
            <a:endParaRPr sz="4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A9E6D44-EBB2-498D-B6F3-161BA0AD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606040"/>
            <a:ext cx="3017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of HR tickets are repetitive questions</a:t>
            </a:r>
            <a:endParaRPr sz="1250"/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answered by humans, over and over</a:t>
            </a:r>
            <a:endParaRPr sz="12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652DD5C-3834-4779-8BF0-5146B7B7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8620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What that exclusion looks like every day:</a:t>
            </a:r>
            <a:endParaRPr sz="16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0C4E95C-FCF9-43A4-8BEA-D1FF54C0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41DDD34-2EAB-4A26-8DA4-C08A3A07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7083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1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4DE4097-6613-4BAC-AD20-2666AC29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370832"/>
            <a:ext cx="9784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A ward nurse can’t check her shift roster or leave balance — she queues at the HR desk instead.</a:t>
            </a:r>
            <a:endParaRPr sz="14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934F111-B34B-425C-8D66-AA206DA6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74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F928585-CBBA-4842-8A02-159F0F77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2</a:t>
            </a:r>
            <a:endParaRPr sz="14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6B88CAE-6ECB-448A-8844-DE7E17C7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029200"/>
            <a:ext cx="9784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A machine operator hits “Error 42”; the fix exists in an English PDF nobody can search. The line stays down.</a:t>
            </a:r>
            <a:endParaRPr sz="14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9299705-A55F-4A7E-BA8A-EFD7CC8D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5AB4A8C-9AF2-471F-80A8-4EC53DCE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75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3</a:t>
            </a:r>
            <a:endParaRPr sz="14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4998739-B259-48BD-87AA-98797D50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687568"/>
            <a:ext cx="9784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Workers miss PF/ESI entitlements they never knew they had; safety SOPs go unread until an incident.</a:t>
            </a:r>
            <a:endParaRPr sz="1450"/>
          </a:p>
        </p:txBody>
      </p:sp>
    </p:spTree>
    <p:extLst>
      <p:ext uri="{BB962C8B-B14F-4D97-AF65-F5344CB8AC3E}">
        <p14:creationId xmlns:p14="http://schemas.microsoft.com/office/powerpoint/2010/main" val="15377855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9496B4-F4D3-4C63-BC01-5DD49CED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Sahayak: send a voice note, get work done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9288A46-E22A-4CB1-A6F6-AFB691C9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3977640" cy="489204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E5DDD5"/>
          </a:solidFill>
          <a:ln xmlns:a="http://schemas.openxmlformats.org/drawingml/2006/main" w="12700">
            <a:solidFill>
              <a:srgbClr val="C9BFB4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F554619-707E-4AE1-BC6A-E2044211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39776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E54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87E4246-4721-4825-87DE-C91A39C0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36576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Sahayak  ·  online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CD8A29-FFEE-4156-844E-0A311FB9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148840"/>
            <a:ext cx="2788920" cy="4572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DCF8C6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62B379-FC57-4DC3-80AA-06EC884D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148840"/>
            <a:ext cx="2514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🎙 “Meri kitni leave bachi hai?”</a:t>
            </a:r>
            <a:endParaRPr sz="11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5768D33-D01F-488A-9A65-25D1D507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43200"/>
            <a:ext cx="2834640" cy="59436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D0E1B99-CE4B-4904-933D-66F075A6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25603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Aapke paas 6 casual leave bachi hain (HRMS, aaj).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6559D1A-6525-4F20-86CB-7D4ED95B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474720"/>
            <a:ext cx="2788920" cy="4572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DCF8C6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78BBE61-0146-4EF8-81E7-E58F1FDA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474720"/>
            <a:ext cx="2514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🎙 “Kal ki chhutti apply kar do.”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5DE9809-1A67-4C43-9288-57072F4F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69080"/>
            <a:ext cx="3017520" cy="731520"/>
          </a:xfrm>
          <a:prstGeom xmlns:a="http://schemas.openxmlformats.org/drawingml/2006/main" prst="roundRect">
            <a:avLst>
              <a:gd name="adj" fmla="val 11250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BB5809-31B2-4324-9679-4211BEE0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69080"/>
            <a:ext cx="2743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Ho gaya ✓ Leave #4821 filed for 21 Jul. Supervisor ko notification chala gaya.</a:t>
            </a:r>
            <a:endParaRPr sz="11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7AC1FC4-614E-4DE8-ACEF-29404FA1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937760"/>
            <a:ext cx="2788920" cy="457200"/>
          </a:xfrm>
          <a:prstGeom xmlns:a="http://schemas.openxmlformats.org/drawingml/2006/main" prst="roundRect">
            <a:avLst>
              <a:gd name="adj" fmla="val 18000"/>
            </a:avLst>
          </a:prstGeom>
          <a:solidFill xmlns:a="http://schemas.openxmlformats.org/drawingml/2006/main">
            <a:srgbClr val="DCF8C6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DA1115B-BB3E-4A44-9DAD-7B02074E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937760"/>
            <a:ext cx="2514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🎙 “Machine X error 42?”</a:t>
            </a:r>
            <a:endParaRPr sz="11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76551F5-A365-430B-B584-ABFBF737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3017520" cy="594360"/>
          </a:xfrm>
          <a:prstGeom xmlns:a="http://schemas.openxmlformats.org/drawingml/2006/main" prst="roundRect">
            <a:avLst>
              <a:gd name="adj" fmla="val 13846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B0B66CE-194B-4264-9499-47E115EC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32120"/>
            <a:ext cx="27432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SOP p.12: coolant valve reset — steps + photo attached 📷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AFAB66A-C340-4E74-8DF3-85392BCF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508760"/>
            <a:ext cx="6126480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5ED014C-1020-4A00-9948-C7EEF39F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892808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98BD05F-9391-4DB7-8138-D2DB3B80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87452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6F50E00-486C-4E1B-ADD6-07D96FBC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36776"/>
            <a:ext cx="4937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Answers</a:t>
            </a:r>
            <a:endParaRPr sz="1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CB7FE59-5A05-4BB3-B332-3CC6151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39112"/>
            <a:ext cx="50292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From the employer’s own systems — HRMS, rosters, payslips — and SOP manuals via RAG, with the source page cited.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4B991A4-5076-4F09-A185-729DDF79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108960"/>
            <a:ext cx="6126480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0B5E6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EDA65E88-B842-40FC-827D-E2844D41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493008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E44E285-8BE5-4311-A670-3102A52D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47472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701B5D4-7B67-4A66-8E3D-4A57814E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36976"/>
            <a:ext cx="4937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Actions</a:t>
            </a:r>
            <a:endParaRPr sz="19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585BC5B-4EA8-40A9-8BC8-A4F34F91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9312"/>
            <a:ext cx="50292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Files the leave, raises the ticket, requests the shift swap — with explicit confirmation and a full audit log.</a:t>
            </a:r>
            <a:endParaRPr sz="12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E2553D6-3EFC-43FA-AFC6-D5C0D841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709160"/>
            <a:ext cx="6126480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CADDB4E-2F2E-4C4C-9350-D9E38DF6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5093208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692E7EF-00A7-4B35-8246-B441AAE0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507492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89ADA81-4E5B-44CC-AE51-B170D93A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837176"/>
            <a:ext cx="4937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Insight</a:t>
            </a:r>
            <a:endParaRPr sz="1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2929F26-BDFE-4439-A87A-73933D46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39512"/>
            <a:ext cx="50292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Anonymized query clusters become a live training-gap heatmap for HR and supervisors.</a:t>
            </a:r>
            <a:endParaRPr sz="12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5BD7146-6F5B-4C60-808B-9C54A714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6355080"/>
            <a:ext cx="6309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Zero install  ·  zero training  ·  voice-first in Hindi, Hinglish &amp; regional languages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4724820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754445C-2C20-4FF3-BC26-E5354586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Target production architecture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8D90A4-CF00-42AC-B74B-D6073A92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37360"/>
            <a:ext cx="2514600" cy="146304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631A607-CA31-48B8-99F5-98D05792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1847088"/>
            <a:ext cx="218541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WhatsApp</a:t>
            </a:r>
            <a:endParaRPr sz="1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A135247-11E4-477F-B721-2782DD96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240280"/>
            <a:ext cx="218541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Voice note or text in;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voice + text + images out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B8C85A4-EEF9-450D-AC97-062F06AE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848" y="2340864"/>
            <a:ext cx="283464" cy="256032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7EA8B8F-A125-4581-B63D-FDC5DE1E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37360"/>
            <a:ext cx="2514600" cy="146304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7004374-31FD-4AC9-BE03-1C6C4E89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92" y="1847088"/>
            <a:ext cx="218541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Indic Speech AI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FCE2012-AE48-441D-A10A-D2DF7E56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92" y="2240280"/>
            <a:ext cx="218541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Bhashini / Sarvam ASR &amp; TTS —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Hinglish and code-switching native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265BF87-44F4-475B-9CE2-71B1BF4B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2340864"/>
            <a:ext cx="283464" cy="256032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B7F4118-0F27-4720-9703-AFE9091D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2514600" cy="146304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0B5E6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E00433-5F49-42B5-9AF0-06248E86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847088"/>
            <a:ext cx="218541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LLM Agent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804346E-634A-42E5-AE1A-9EE3BC4C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240280"/>
            <a:ext cx="218541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Claude with tool-calling: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intent → retrieve → act → confirm</a:t>
            </a:r>
            <a:endParaRPr sz="11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7C91094-66E0-4E19-B22C-FC7022F6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340864"/>
            <a:ext cx="283464" cy="256032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3611D77-810F-40E0-ADF6-8F3A999E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737360"/>
            <a:ext cx="2514600" cy="146304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FBDD353-0996-450A-8EC1-BA03DCE1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847088"/>
            <a:ext cx="218541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Knowledge &amp; Systems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DC7CABA-0A6F-4C28-8FCA-AE2DBFB8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240280"/>
            <a:ext cx="218541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RAG over SOPs &amp; policies (cited);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connectors to HRMS / tickets / rosters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2B6CE80-E867-4DB4-BAB9-9AEB11CD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1101852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CF3E2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AF3A756-FE39-439D-B173-C00D8377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57600"/>
            <a:ext cx="106070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7A5A17"/>
                </a:solidFill>
                <a:latin typeface="Calibri"/>
                <a:ea typeface="Calibri"/>
                <a:cs typeface="Calibri"/>
              </a:rPr>
              <a:t>Guardrails at every step:  answers cite source document &amp; page  ·  low confidence → “I don’t know” + human handoff  ·  every action needs explicit confirmation  ·  full audit log</a:t>
            </a:r>
            <a:endParaRPr sz="13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BC00D7E-63C7-4B58-9952-C42612A0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80"/>
            <a:ext cx="11018520" cy="114300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0B97C9C-66D2-4C1D-8B8D-EA4C4DB9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12064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Supervisor dashboard (web):</a:t>
            </a:r>
            <a:endParaRPr sz="15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8C83854-7A50-47C7-B848-5AB9A7DF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120640"/>
            <a:ext cx="7589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live query clusters, training-gap heatmap, action log, adoption metrics — the employer’s window into what the workforce needs.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0858851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DA429A-F905-4666-A0D8-115D45DB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What judges see in the recorded prototype demo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26D5F20-67EA-4D7A-87CA-82488AB3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5349240" cy="196596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7BCA4ED-9250-44F2-AEEC-DD93287C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5623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5796F9F-EC73-4ABB-8161-F57E33BD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3794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FB998B7-D2D5-47C0-BC8F-A1C5EC9B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01368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Ask in local language</a:t>
            </a:r>
            <a:endParaRPr sz="1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49554FC-3FE6-404D-B17E-E90BEC9F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286000"/>
            <a:ext cx="4206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A Hindi message in the worker chat:</a:t>
            </a:r>
            <a:endParaRPr sz="1250"/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“Infection control ka hand-hygiene SOP kya hai?”</a:t>
            </a:r>
            <a:endParaRPr sz="12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45809E-03DE-4A5A-BA3F-249B3B53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108960"/>
            <a:ext cx="4206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Nurse persona, hospital corpus</a:t>
            </a:r>
            <a:endParaRPr sz="11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FCFBBE7-F92E-4A29-A7C2-6CD0D84C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00200"/>
            <a:ext cx="5349240" cy="196596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FCE21C8-1DDE-44EF-9E10-0F15A4B9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85623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A7D234-263F-4821-8D86-8C7206B6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83794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ED1C725-4A81-43FB-BBF5-1CD7DD2D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801368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Cited answer</a:t>
            </a:r>
            <a:endParaRPr sz="1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E15DFBB-C435-4736-941E-57F50105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286000"/>
            <a:ext cx="4206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Sahayak replies in Hindi — </a:t>
            </a: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cited SOP steps</a:t>
            </a: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 —</a:t>
            </a:r>
            <a:endParaRPr sz="1250"/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from the approved SOP document</a:t>
            </a:r>
            <a:endParaRPr sz="12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976A8D7-BB7D-451C-8C70-5DDE8C78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108960"/>
            <a:ext cx="4206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Evidence-grounded retrieval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E7E4187-5DF3-42AC-AD3C-6E90B00E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5349240" cy="196596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B315CFB-C422-4002-9D78-7FEDF53B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9651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52BF620-46F4-47E5-A941-B1E7C4BE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7822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A8E290-1A68-401B-91AD-0DC9161E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041648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Take action</a:t>
            </a:r>
            <a:endParaRPr sz="19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AC702C8-B668-4F39-8637-8C52C4A9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526280"/>
            <a:ext cx="4206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“Kal ki leave apply kar do” → confirmation →</a:t>
            </a:r>
            <a:endParaRPr sz="1250"/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leave filed in the prototype</a:t>
            </a:r>
            <a:endParaRPr sz="12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E2F48-FC3C-420E-BF24-2FEB3435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349240"/>
            <a:ext cx="4206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Agentic, closed-loop</a:t>
            </a:r>
            <a:endParaRPr sz="11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9E9649EE-EEFB-40B0-86D2-BC611411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840480"/>
            <a:ext cx="5349240" cy="196596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0B5E6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EBC21AD-71FD-44A6-A951-A942B9B0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09651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208D216-5775-453F-A8B3-D5888D67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07822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9A5FC19-176E-4A54-8943-6728DE28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041648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See the insight</a:t>
            </a:r>
            <a:endParaRPr sz="19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8CB01E7-ABF8-471C-A8D5-A6CB5D0A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526280"/>
            <a:ext cx="4206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The supervisor dashboard updates live</a:t>
            </a:r>
            <a:r>
              <a:rPr sz="125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: query logged,</a:t>
            </a:r>
            <a:endParaRPr sz="1250"/>
          </a:p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cluster grows, training gap surfaces</a:t>
            </a:r>
            <a:endParaRPr sz="12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7289D66-CC40-4784-BA9B-17361D5B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5349240"/>
            <a:ext cx="4206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B8DCD9"/>
                </a:solidFill>
                <a:latin typeface="Calibri"/>
                <a:ea typeface="Calibri"/>
                <a:cs typeface="Calibri"/>
              </a:rPr>
              <a:t>Value for the employer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13274795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9F44346-9EB4-405F-BD0A-74CB8BAB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Concept → prototype: 14 weeks, four sprints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C49493-F706-46E9-9179-D5CDB9D6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430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Jul 1 – Oct 7, 2026 (challenge window)</a:t>
            </a:r>
            <a:endParaRPr sz="1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7ED51B1-E02A-4C9A-AC08-5D68AE5F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65960"/>
            <a:ext cx="0" cy="42062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rgbClr val="0B5E63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3FD80D-2E7F-4FC7-91D9-2A1898FC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8308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B704C31-55FB-40E4-A77F-D2F03FAD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764792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EC51507-169C-46BD-AF37-E40D2B53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737360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Sprint 1 · Wk 1–3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6C5AC0C-CBAC-4E53-91B5-0D127B7E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075688"/>
            <a:ext cx="2148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Foundations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E262A45-D77B-4409-861D-EAACFCBE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709928"/>
            <a:ext cx="73152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User interviews (5 nurses, 5 operators)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Corpus: sample SOPs + mock HRMS data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WhatsApp sandbox + ASR evaluation</a:t>
            </a:r>
            <a:endParaRPr sz="1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69414AE-E8FB-40C6-9925-C2A402EE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898648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6E5C399-08C8-4FE7-94C8-977F6B4C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DCE7079-06BF-4296-92D3-BF896748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852928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Sprint 2 · Wk 4–7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12697DF-64BD-414B-9CF6-1821290B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191256"/>
            <a:ext cx="2148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Core pipeline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480B32D-590D-44E6-B3F6-D7320BFB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25496"/>
            <a:ext cx="73152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Voice → ASR → LLM → answer loop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RAG with page-level citations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Hindi + Hinglish quality passes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B992227-0ABB-4B17-A406-94DA92E6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014216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59BDA12-3A3C-4160-A125-75AD3D0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995928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AACAA24-6E72-47CC-9468-E5CA67DB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968496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Sprint 3 · Wk 8–11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B8423B7-9615-4BBA-82B4-08F5F6A8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306824"/>
            <a:ext cx="2148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Actions &amp; dashboard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15C24EC-AA4E-46F4-85C7-A52CFEB6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941064"/>
            <a:ext cx="73152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Leave filing, tickets, shift swaps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Confirmation + audit log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Supervisor dashboard with clusters</a:t>
            </a:r>
            <a:endParaRPr sz="1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B2B8501-001B-425A-AD6B-364830F4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5129784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9986435-754A-4347-89C3-C30A0437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5111496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989D4E2-CFD4-4F72-955C-2F5AA2BF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084064"/>
            <a:ext cx="2148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B97708"/>
                </a:solidFill>
                <a:latin typeface="Calibri"/>
                <a:ea typeface="Calibri"/>
                <a:cs typeface="Calibri"/>
              </a:rPr>
              <a:t>Sprint 4 · Wk 12–14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C10F757-0C83-4FA0-96EB-F68A14CF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422392"/>
            <a:ext cx="2148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Hardening &amp; demo</a:t>
            </a:r>
            <a:endParaRPr sz="16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FE6FF85-6BB9-4184-9C10-2B57D439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5056632"/>
            <a:ext cx="73152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Guardrails: confidence, handoff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20-user dry run at IIIT Vadodara</a:t>
            </a:r>
            <a:endParaRPr sz="1250"/>
          </a:p>
          <a:p xmlns:a="http://schemas.openxmlformats.org/drawingml/2006/main">
            <a:pPr marL="152400" indent="-152400">
              <a:spcAft>
                <a:spcPts val="400"/>
              </a:spcAft>
              <a:buSzPct val="100000"/>
              <a:buChar char="•"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Demo video + pilot outreach (Bharuch)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20933065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EE5DB66-406A-4A0E-B578-BFAD0F2F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Planned production stack: proven parts, novel integration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B7EF1AD-F474-4EF1-ABBD-FD4E1DA4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2651760" cy="393192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A0A2CF9-EDE8-4420-9C14-00E73FAB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78308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Interface</a:t>
            </a:r>
            <a:endParaRPr sz="17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5FAE872-FC5D-4CE1-99C4-688AACCC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37744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CDF54E4-0A80-4813-8F9A-9EA26003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237744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WhatsApp Business API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(</a:t>
            </a: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production channel</a:t>
            </a: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)</a:t>
            </a:r>
            <a:endParaRPr sz="12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7B819C3-4980-4863-A96F-5BD0F70F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84048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B7ABA0-F5EB-4731-90B8-BA0D6F92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384048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Voice notes in &amp; out;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images for SOP steps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2E51127-5495-4194-9C35-07CCA0CC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1554480"/>
            <a:ext cx="2651760" cy="393192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0B5E6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A48BD6B-5AE4-468A-8879-E18D17B3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056" y="178308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Language AI</a:t>
            </a:r>
            <a:endParaRPr sz="17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C76246D-179D-4C17-A9A7-74E35A6B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056" y="237744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0E6E74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4EF01FF-179F-422F-832D-15BDC5C8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237744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Bhashini / Sarvam AI —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Indic ASR + TTS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5870F41-F1E6-4641-A5A9-F1D8B5D8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056" y="384048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0E6E74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CF15F75-195E-428E-86D0-7D54ADA2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84048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Claude (LLM) with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DFF0EF"/>
                </a:solidFill>
                <a:latin typeface="Calibri"/>
                <a:ea typeface="Calibri"/>
                <a:cs typeface="Calibri"/>
              </a:rPr>
              <a:t>tool-calling agent loop</a:t>
            </a:r>
            <a:endParaRPr sz="12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CC77379-FA52-4C34-AC5A-CDE8C88B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1554480"/>
            <a:ext cx="2651760" cy="393192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34911D6-F6A0-4063-8A45-472E60EF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178308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Knowledge &amp; Data</a:t>
            </a:r>
            <a:endParaRPr sz="17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8C7EDFF-B564-496C-96F8-1C132C14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237744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732732F-9CE9-493F-8F90-A7C68AE7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237744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pgvector RAG index over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SOPs, policies, manuals</a:t>
            </a:r>
            <a:endParaRPr sz="12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B13A5C6-4A13-469E-AD4C-7C613EA2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984" y="384048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39E037C-4D63-4E68-B111-9FE0DCB8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384048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HRMS connector layer</a:t>
            </a: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: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leave, rosters, payslips</a:t>
            </a:r>
            <a:endParaRPr sz="12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0748E5A-50FF-4C3E-AB90-A79F6BBC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554480"/>
            <a:ext cx="2651760" cy="393192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391C28D-913D-4B5D-AF13-5D6039BE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78308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App &amp; Infra</a:t>
            </a:r>
            <a:endParaRPr sz="17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73ADAEC-5C32-49FC-AB57-07C89DC1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237744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AE37A52-D16C-4F9D-BB48-7D9E0CDC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37744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FastAPI backend +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React dashboard</a:t>
            </a:r>
            <a:endParaRPr sz="12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E52493F-994D-4595-8785-693F413E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3840480"/>
            <a:ext cx="2249424" cy="1280160"/>
          </a:xfrm>
          <a:prstGeom xmlns:a="http://schemas.openxmlformats.org/drawingml/2006/main" prst="roundRect">
            <a:avLst>
              <a:gd name="adj" fmla="val 6429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A54F092-E9A4-4982-A266-DD738952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3840480"/>
            <a:ext cx="1975104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Docker on cloud;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multi-tenant by design</a:t>
            </a:r>
            <a:endParaRPr sz="12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24C7473-95E4-4BEF-9E3F-7D2CB394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06440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Every component is individually proven — our work is the integration, the Indic voice UX, and the action layer.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8133870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E4A4F20-EB40-4BB5-931D-B53D1C87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Pilot success targets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DE6C938-F20E-4119-9346-9C6A0DA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265176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B1F0430-23B7-4D4D-839D-EB0FF104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737360"/>
            <a:ext cx="2286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≥ 70%</a:t>
            </a:r>
            <a:endParaRPr sz="3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6342FCB-3783-4728-A926-8C817070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23317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of worker queries resolved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at first contact</a:t>
            </a:r>
            <a:endParaRPr sz="1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2BFA8BE-294A-46D7-BC15-B27584DD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1554480"/>
            <a:ext cx="265176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E3AF50-AB55-42D7-83C9-C4D8DBBF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1737360"/>
            <a:ext cx="2286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30–40%</a:t>
            </a:r>
            <a:endParaRPr sz="3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D3ACCB-BD4C-46AF-8C0F-7BEE522B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2514600"/>
            <a:ext cx="23317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repetitive HR/IT workload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deflected from humans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60598B5-7511-4438-AB14-6B8A6F45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1554480"/>
            <a:ext cx="265176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F0C4258-AA3F-4C2D-88F9-1E318971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1737360"/>
            <a:ext cx="2286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≥ 60%</a:t>
            </a:r>
            <a:endParaRPr sz="3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37DD2C9-7986-4AE7-81D7-8E9B08AE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514600"/>
            <a:ext cx="23317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monthly active adoption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among pilot workers</a:t>
            </a:r>
            <a:endParaRPr sz="12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F04748E-A1AE-4725-835C-EDFB880D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554480"/>
            <a:ext cx="2651760" cy="178308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6C7FA60-D04B-4A41-87A2-95942819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624" y="1737360"/>
            <a:ext cx="2286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0B5E63"/>
                </a:solidFill>
                <a:latin typeface="Calibri"/>
                <a:ea typeface="Calibri"/>
                <a:cs typeface="Calibri"/>
              </a:rPr>
              <a:t>≥ 90%</a:t>
            </a:r>
            <a:endParaRPr sz="3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B48C973-687D-40E9-B78D-25CFF9F5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624" y="2514600"/>
            <a:ext cx="23317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of answers with correct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B7378"/>
                </a:solidFill>
                <a:latin typeface="Calibri"/>
                <a:ea typeface="Calibri"/>
                <a:cs typeface="Calibri"/>
              </a:rPr>
              <a:t>source citation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5569F02-1E8C-4AE5-9FFB-CC2A8F08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Validation ladder</a:t>
            </a:r>
            <a:endParaRPr sz="17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048E28C-EF02-4A53-917D-A23236CB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3710822-D819-43D3-BC87-BFE3C468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6512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4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A3408B3-5FF6-477B-BA24-C35082FF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08736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Hackathon (now)</a:t>
            </a:r>
            <a:endParaRPr sz="13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005DA01-C046-4F9E-851D-2B9F0722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041648"/>
            <a:ext cx="777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Working local prototype: multilingual chat → cited SOP answer → filed action → supervisor approval, verified through scripted smoke tests and the recorded demo.</a:t>
            </a:r>
            <a:endParaRPr sz="1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19E26F7-B7F5-4046-B947-F5BF346C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204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28C55E-CFE9-4394-9B1E-A3CD435F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3752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4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B170D61-BF70-4186-8B20-BDFC5276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864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Dry run (Wk 12–14)</a:t>
            </a:r>
            <a:endParaRPr sz="13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4435D57-C1B9-4E6E-A928-E6310639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818888"/>
            <a:ext cx="777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20 students + staff at IIIT Vadodara use Sahayak for a week; we measure resolution, latency, and voice-recognition accuracy.</a:t>
            </a:r>
            <a:endParaRPr sz="12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1FD00FB-397A-4D84-8150-58038C8A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6928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DA06EB9-C12E-4BD0-A912-19F3737B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0992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E3AF4A1-7C52-425F-A4D4-E74C8D8F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64184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Pilot (post-challenge)</a:t>
            </a:r>
            <a:endParaRPr sz="13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92A4957-80AE-4798-9CDF-833366D1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596128"/>
            <a:ext cx="777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6-month structured pilot at one hospital and one manufacturing SME near Bharuch, Gujarat — metrics above, plus entitlement uptake.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455566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6F64466-55A0-45F2-B84C-3D0E657F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Inclusive by mechanic, trustworthy by design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8310A49-4EEC-4849-B250-226C7B80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5440680" cy="4663440"/>
          </a:xfrm>
          <a:prstGeom xmlns:a="http://schemas.openxmlformats.org/drawingml/2006/main" prst="roundRect">
            <a:avLst>
              <a:gd name="adj" fmla="val 1765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BF87C5C-0401-4BD4-9F5B-EB549F81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783080"/>
            <a:ext cx="4846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Inclusion — built in, not bolted on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2DDC38D-C9D6-463F-B946-D48B4351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31720"/>
            <a:ext cx="489204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Voice-first, both directions — literacy is never a barrier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Hindi, Hinglish &amp; regional languages, code-switching as spoken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Runs on WhatsApp on entry-level phones, low bandwidth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Zero training: if you can send a voice note, you can use it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Same product for a nurse in Coimbatore and a welder in Pune</a:t>
            </a:r>
            <a:endParaRPr sz="13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237C83B-617F-4B73-A9F6-A732F70F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554480"/>
            <a:ext cx="4828032" cy="4663440"/>
          </a:xfrm>
          <a:prstGeom xmlns:a="http://schemas.openxmlformats.org/drawingml/2006/main" prst="roundRect">
            <a:avLst>
              <a:gd name="adj" fmla="val 1765"/>
            </a:avLst>
          </a:prstGeom>
          <a:solidFill xmlns:a="http://schemas.openxmlformats.org/drawingml/2006/main">
            <a:srgbClr val="0B5E6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334A0A3-A5AD-4925-92F4-F15B3EB7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783080"/>
            <a:ext cx="4297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Trust &amp; safety guardrails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FCE14C1-C7BA-41EB-BE25-29134616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331720"/>
            <a:ext cx="434340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EAF6F5"/>
                </a:solidFill>
                <a:latin typeface="Calibri"/>
                <a:ea typeface="Calibri"/>
                <a:cs typeface="Calibri"/>
              </a:rPr>
              <a:t>Every answer cites its source document and page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EAF6F5"/>
                </a:solidFill>
                <a:latin typeface="Calibri"/>
                <a:ea typeface="Calibri"/>
                <a:cs typeface="Calibri"/>
              </a:rPr>
              <a:t>Low confidence → “I don’t know” + route to a human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EAF6F5"/>
                </a:solidFill>
                <a:latin typeface="Calibri"/>
                <a:ea typeface="Calibri"/>
                <a:cs typeface="Calibri"/>
              </a:rPr>
              <a:t>Explicit confirmation before any HR action; full audit log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EAF6F5"/>
                </a:solidFill>
                <a:latin typeface="Calibri"/>
                <a:ea typeface="Calibri"/>
                <a:cs typeface="Calibri"/>
              </a:rPr>
              <a:t>Consent-first onboarding, data minimization, DPDP-aligned</a:t>
            </a:r>
            <a:endParaRPr sz="1350"/>
          </a:p>
          <a:p xmlns:a="http://schemas.openxmlformats.org/drawingml/2006/main"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EAF6F5"/>
                </a:solidFill>
                <a:latin typeface="Calibri"/>
                <a:ea typeface="Calibri"/>
                <a:cs typeface="Calibri"/>
              </a:rPr>
              <a:t>Anonymized, aggregated analytics only — never surveillance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12211929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ECD0CE2-9DC7-46DB-B20B-C8375EFB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07393D"/>
                </a:solidFill>
                <a:latin typeface="Cambria"/>
                <a:ea typeface="Cambria"/>
                <a:cs typeface="Cambria"/>
              </a:rPr>
              <a:t>A real market, a clear wedge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76E76E3-CA6E-4FB1-819A-D5F66060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5394960" cy="22860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7DD23EF-7C98-4965-B719-9006BEA0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9164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Business model</a:t>
            </a:r>
            <a:endParaRPr sz="17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9D5240D-8011-4D74-8AD8-16F7E9F7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03120"/>
            <a:ext cx="4983480" cy="160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B2B SaaS at ₹30–50 per employee per month.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A 500-worker SME pays ~₹15–25k/month — less than one clerk’s salary for a 24×7 multilingual helpdesk.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Verticals: hospitals → factories → warehouses → retail.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3F2EECF-2364-46C8-90B3-2A24201B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77640"/>
            <a:ext cx="5394960" cy="2240280"/>
          </a:xfrm>
          <a:prstGeom xmlns:a="http://schemas.openxmlformats.org/drawingml/2006/main" prst="roundRect">
            <a:avLst>
              <a:gd name="adj" fmla="val 3673"/>
            </a:avLst>
          </a:prstGeom>
          <a:solidFill xmlns:a="http://schemas.openxmlformats.org/drawingml/2006/main">
            <a:srgbClr val="EAF3F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7A9C2F-ED5A-47C6-88A7-0D543585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16052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Honest competitive view</a:t>
            </a:r>
            <a:endParaRPr sz="17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0EDDBD-AB58-4B0D-88C6-F8E30884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72000"/>
            <a:ext cx="498348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B2A33"/>
                </a:solidFill>
                <a:latin typeface="Calibri"/>
                <a:ea typeface="Calibri"/>
                <a:cs typeface="Calibri"/>
              </a:rPr>
              <a:t>Adjacent players exist — Hunar.ai (frontline hiring &amp; engagement), HROne One AI (HRMS voice agent), Vahan (blue-collar recruiting). None combine SOP troubleshooting RAG + agentic HR actions + training-gap analytics in one worker-side assistant.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299BEBE-0665-4C86-AA52-512E194C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508760"/>
            <a:ext cx="4873752" cy="4709160"/>
          </a:xfrm>
          <a:prstGeom xmlns:a="http://schemas.openxmlformats.org/drawingml/2006/main" prst="roundRect">
            <a:avLst>
              <a:gd name="adj" fmla="val 1748"/>
            </a:avLst>
          </a:prstGeom>
          <a:solidFill xmlns:a="http://schemas.openxmlformats.org/drawingml/2006/main">
            <a:srgbClr val="0B5E63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0BAC0FD-9B30-4B8D-89F7-067C9EE4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691640"/>
            <a:ext cx="4206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Our wedge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8179D9B-DA89-42D8-B969-DC90C59C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24028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7CE68A2-075A-45C1-9920-C0C8C793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221992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1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D02CFFC-CE64-49E8-82F3-A094DAC8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167128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Worker-side, not HR-side</a:t>
            </a:r>
            <a:endParaRPr sz="14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4B42312-2F57-4F93-B0AF-CCD1DADC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514600"/>
            <a:ext cx="3886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FE9E7"/>
                </a:solidFill>
                <a:latin typeface="Calibri"/>
                <a:ea typeface="Calibri"/>
                <a:cs typeface="Calibri"/>
              </a:rPr>
              <a:t>Built for the deskless worker’s daily reality, not the HR office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AE8FBE3-D500-4FBA-9A42-F954DD95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24612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D648897-C67F-4407-9E14-5BC5C6F8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227832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2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705E0E0-D92E-420A-9F65-CB017062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172968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SOP brain</a:t>
            </a:r>
            <a:endParaRPr sz="14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F872105-4F66-4A06-BE72-FBA0DC9D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520440"/>
            <a:ext cx="3886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FE9E7"/>
                </a:solidFill>
                <a:latin typeface="Calibri"/>
                <a:ea typeface="Calibri"/>
                <a:cs typeface="Calibri"/>
              </a:rPr>
              <a:t>Shop-floor troubleshooting from the employer’s own manuals, cited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C34A244-492B-4156-9777-C35F1322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25196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981119E-68EF-4F6B-86FB-633683DC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233672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3</a:t>
            </a:r>
            <a:endParaRPr sz="14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0AD5A53-724B-4EE6-AA05-B6C7F22A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178808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Learning loop</a:t>
            </a:r>
            <a:endParaRPr sz="14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1FA9C8-0A81-499E-A5D3-0EF759F5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526280"/>
            <a:ext cx="3886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FE9E7"/>
                </a:solidFill>
                <a:latin typeface="Calibri"/>
                <a:ea typeface="Calibri"/>
                <a:cs typeface="Calibri"/>
              </a:rPr>
              <a:t>Query clusters become a training-gap heatmap — a loop no competitor offers</a:t>
            </a:r>
            <a:endParaRPr sz="11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1EB4063-CF8D-4384-B387-7FA503EA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25780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3E69651-7199-43BB-91A1-038E6D18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239512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4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AF2D596-D9FB-438E-B8A4-B00F8D97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5184648"/>
            <a:ext cx="3840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Healthcare-first</a:t>
            </a:r>
            <a:endParaRPr sz="14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107F937-8FB2-411E-9AC0-01B3FF12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5532120"/>
            <a:ext cx="3886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FE9E7"/>
                </a:solidFill>
                <a:latin typeface="Calibri"/>
                <a:ea typeface="Calibri"/>
                <a:cs typeface="Calibri"/>
              </a:rPr>
              <a:t>Hospital pilot aligned with the challenge’s health pillar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10375423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39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D548EB-7BF6-4455-8274-DD10B4B3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645920" y="4480560"/>
            <a:ext cx="4023360" cy="4023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E63">
              <a:alpha val="60000"/>
            </a:srgbClr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709B20-F84D-4D86-BA8C-E4FAA73D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"/>
            <a:ext cx="5486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team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D84E67C-7AEA-4F74-A824-F8A28AE2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3474720" cy="2103120"/>
          </a:xfrm>
          <a:prstGeom xmlns:a="http://schemas.openxmlformats.org/drawingml/2006/main" prst="roundRect">
            <a:avLst>
              <a:gd name="adj" fmla="val 3913"/>
            </a:avLst>
          </a:prstGeom>
          <a:solidFill xmlns:a="http://schemas.openxmlformats.org/drawingml/2006/main">
            <a:srgbClr val="0E4C50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A409E7D-301D-4E91-AA64-9C98A674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9164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265E034-F612-4458-A690-AED4085E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73352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HP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D79C680-CD65-4C03-8D1D-E2D0E05E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1783080"/>
            <a:ext cx="2286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Harshil Patel</a:t>
            </a:r>
            <a:endParaRPr sz="16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4385ED-3791-4B0D-8A33-68E709C1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606040"/>
            <a:ext cx="3017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FDBD8"/>
                </a:solidFill>
                <a:latin typeface="Calibri"/>
                <a:ea typeface="Calibri"/>
                <a:cs typeface="Calibri"/>
              </a:rPr>
              <a:t>Product &amp; AI pipeline — LLM agent, RAG, prompt &amp; tool design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4F9263F-8E48-4FE8-B06E-FE4AA669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463040"/>
            <a:ext cx="3474720" cy="2103120"/>
          </a:xfrm>
          <a:prstGeom xmlns:a="http://schemas.openxmlformats.org/drawingml/2006/main" prst="roundRect">
            <a:avLst>
              <a:gd name="adj" fmla="val 3913"/>
            </a:avLst>
          </a:prstGeom>
          <a:solidFill xmlns:a="http://schemas.openxmlformats.org/drawingml/2006/main">
            <a:srgbClr val="0E4C50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9124490-FEFE-4324-91E7-E1B716CA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69164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21665D2-CA60-482A-B0D4-8BA57471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673352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DM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724D4D0-86D3-4165-816C-63EE57F9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783080"/>
            <a:ext cx="2286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Deep Mehta</a:t>
            </a:r>
            <a:endParaRPr sz="16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108EBB7-E3E4-4A16-905F-84123859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2312" y="2606040"/>
            <a:ext cx="3017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FDBD8"/>
                </a:solidFill>
                <a:latin typeface="Calibri"/>
                <a:ea typeface="Calibri"/>
                <a:cs typeface="Calibri"/>
              </a:rPr>
              <a:t>Backend &amp; integrations — WhatsApp, HRMS connectors, infra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89E7538-DD28-4776-8FBC-6327F4A1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63040"/>
            <a:ext cx="3474720" cy="2103120"/>
          </a:xfrm>
          <a:prstGeom xmlns:a="http://schemas.openxmlformats.org/drawingml/2006/main" prst="roundRect">
            <a:avLst>
              <a:gd name="adj" fmla="val 3913"/>
            </a:avLst>
          </a:prstGeom>
          <a:solidFill xmlns:a="http://schemas.openxmlformats.org/drawingml/2006/main">
            <a:srgbClr val="0E4C50"/>
          </a:solidFill>
          <a:effectLst xmlns:a="http://schemas.openxmlformats.org/drawingml/2006/main">
            <a:outerShdw blurRad="76200" dist="25400" dir="5400000" sx="100000" sy="100000" kx="0" ky="0" algn="bl" rotWithShape="0">
              <a:srgbClr val="9AB2B5">
                <a:alpha val="35000"/>
              </a:srgbClr>
            </a:outerShdw>
          </a:effectLst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7CBD21C-7220-422B-AD28-27B6D969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164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26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6A86E44-6BBB-44D3-9E03-F21FDFBD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3352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7393D"/>
                </a:solidFill>
                <a:latin typeface="Calibri"/>
                <a:ea typeface="Calibri"/>
                <a:cs typeface="Calibri"/>
              </a:rPr>
              <a:t>MK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C4326CD-F516-4F53-AF64-2DF812C9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783080"/>
            <a:ext cx="2286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Meet Kapadia</a:t>
            </a:r>
            <a:endParaRPr sz="16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3307ED1-672C-426D-BC85-709964E3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606040"/>
            <a:ext cx="3017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FDBD8"/>
                </a:solidFill>
                <a:latin typeface="Calibri"/>
                <a:ea typeface="Calibri"/>
                <a:cs typeface="Calibri"/>
              </a:rPr>
              <a:t>Voice UX &amp; dashboard — Indic ASR/TTS tuning, React frontend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F10664D-C9D0-4512-BD71-3C987622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9476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9FC2BF"/>
                </a:solidFill>
                <a:latin typeface="Calibri"/>
                <a:ea typeface="Calibri"/>
                <a:cs typeface="Calibri"/>
              </a:rPr>
              <a:t>B.Tech students, IIIT Vadodara  ·  based in Gujarat — pilot outreach in Bharuch</a:t>
            </a:r>
            <a:endParaRPr sz="13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D5C9506-2631-493D-A9F7-1CF419E7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0"/>
            <a:ext cx="10515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UPI made payments work for every Indian.</a:t>
            </a:r>
            <a:endParaRPr sz="2800"/>
          </a:p>
          <a:p xmlns:a="http://schemas.openxmlformats.org/drawingml/2006/main">
            <a:pPr marL="0" indent="0">
              <a:buNone/>
            </a:pPr>
            <a:r>
              <a:rPr sz="2800" b="1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Sahayak does the same for the workplace.</a:t>
            </a:r>
            <a:endParaRPr sz="2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995E1B4-5434-4B89-BDA7-2E8002C0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7220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4A226"/>
                </a:solidFill>
                <a:latin typeface="Calibri"/>
                <a:ea typeface="Calibri"/>
                <a:cs typeface="Calibri"/>
              </a:rPr>
              <a:t>Sahayak  ·  Ideas for India 2026  ·  Inclusive Innovation for Bharat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06184437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2026-08-15T17:37:27.7050000Z</dcterms:created>
  <dcterms:modified xsi:type="dcterms:W3CDTF">2026-08-15T17:37:27.7050000Z</dcterms:modified>
</coreProperties>
</file>